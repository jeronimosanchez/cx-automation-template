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548640"/>
            <a:ext cx="411480" cy="411480"/>
          </a:xfrm>
          <a:prstGeom prst="rect">
            <a:avLst/>
          </a:prstGeom>
          <a:solidFill>
            <a:srgbClr val="38EFA0"/>
          </a:solidFill>
          <a:ln>
            <a:noFill/>
          </a:ln>
          <a:effectLst/>
        </p:spPr>
        <p:txBody>
          <a:bodyPr rtlCol="0" anchor="ctr" wrap="square" lIns="45720" rIns="45720" tIns="9144" bIns="9144"/>
          <a:lstStyle/>
          <a:p>
            <a:pPr algn="ctr"/>
            <a:r>
              <a:rPr sz="1400" b="1">
                <a:solidFill>
                  <a:srgbClr val="1A1A1A"/>
                </a:solidFill>
                <a:latin typeface="DM San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02920"/>
            <a:ext cx="7772400" cy="457200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DM Sans"/>
              </a:rPr>
              <a:t>Cómo funciona 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43584"/>
            <a:ext cx="7955279" cy="38404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DM Sans"/>
              </a:rPr>
              <a:t>Dos entradas — greenfield y optimización — sobre un ciclo que aprende con cada cliente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468880"/>
            <a:ext cx="1783080" cy="749808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 lIns="45720" rIns="45720" tIns="9144" bIns="9144"/>
          <a:lstStyle/>
          <a:p>
            <a:pPr algn="ctr"/>
            <a:r>
              <a:rPr sz="1100" b="1">
                <a:solidFill>
                  <a:srgbClr val="1A1A1A"/>
                </a:solidFill>
                <a:latin typeface="DM Sans"/>
              </a:rPr>
              <a:t>DESIGN</a:t>
            </a:r>
          </a:p>
          <a:p>
            <a:pPr algn="ctr"/>
            <a:r>
              <a:rPr sz="800" b="0">
                <a:solidFill>
                  <a:srgbClr val="666666"/>
                </a:solidFill>
                <a:latin typeface="DM Sans"/>
              </a:rPr>
              <a:t>definir desde 0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468880"/>
            <a:ext cx="54864" cy="749808"/>
          </a:xfrm>
          <a:prstGeom prst="rect">
            <a:avLst/>
          </a:prstGeom>
          <a:solidFill>
            <a:srgbClr val="38EF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87168" y="2468880"/>
            <a:ext cx="1783080" cy="749808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 lIns="45720" rIns="45720" tIns="9144" bIns="9144"/>
          <a:lstStyle/>
          <a:p>
            <a:pPr algn="ctr"/>
            <a:r>
              <a:rPr sz="1100" b="1">
                <a:solidFill>
                  <a:srgbClr val="1A1A1A"/>
                </a:solidFill>
                <a:latin typeface="DM Sans"/>
              </a:rPr>
              <a:t>BUILD · GEN</a:t>
            </a:r>
          </a:p>
          <a:p>
            <a:pPr algn="ctr"/>
            <a:r>
              <a:rPr sz="800" b="0">
                <a:solidFill>
                  <a:srgbClr val="666666"/>
                </a:solidFill>
                <a:latin typeface="DM Sans"/>
              </a:rPr>
              <a:t>generar / extender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2468880"/>
            <a:ext cx="54864" cy="749808"/>
          </a:xfrm>
          <a:prstGeom prst="rect">
            <a:avLst/>
          </a:prstGeom>
          <a:solidFill>
            <a:srgbClr val="38EF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0288" y="2468880"/>
            <a:ext cx="1783080" cy="749808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 lIns="45720" rIns="45720" tIns="9144" bIns="9144"/>
          <a:lstStyle/>
          <a:p>
            <a:pPr algn="ctr"/>
            <a:r>
              <a:rPr sz="1100" b="1">
                <a:solidFill>
                  <a:srgbClr val="1A1A1A"/>
                </a:solidFill>
                <a:latin typeface="DM Sans"/>
              </a:rPr>
              <a:t>VALIDATE · QAP</a:t>
            </a:r>
          </a:p>
          <a:p>
            <a:pPr algn="ctr"/>
            <a:r>
              <a:rPr sz="800" b="0">
                <a:solidFill>
                  <a:srgbClr val="666666"/>
                </a:solidFill>
                <a:latin typeface="DM Sans"/>
              </a:rPr>
              <a:t>QA + diagnóstico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0288" y="2468880"/>
            <a:ext cx="54864" cy="749808"/>
          </a:xfrm>
          <a:prstGeom prst="rect">
            <a:avLst/>
          </a:prstGeom>
          <a:solidFill>
            <a:srgbClr val="38EF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93408" y="2468880"/>
            <a:ext cx="1783080" cy="749808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 lIns="45720" rIns="45720" tIns="9144" bIns="9144"/>
          <a:lstStyle/>
          <a:p>
            <a:pPr algn="ctr"/>
            <a:r>
              <a:rPr sz="1100" b="1">
                <a:solidFill>
                  <a:srgbClr val="1A1A1A"/>
                </a:solidFill>
                <a:latin typeface="DM Sans"/>
              </a:rPr>
              <a:t>ITERATE · KB</a:t>
            </a:r>
          </a:p>
          <a:p>
            <a:pPr algn="ctr"/>
            <a:r>
              <a:rPr sz="800" b="0">
                <a:solidFill>
                  <a:srgbClr val="666666"/>
                </a:solidFill>
                <a:latin typeface="DM Sans"/>
              </a:rPr>
              <a:t>hub de conocimiento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3408" y="2468880"/>
            <a:ext cx="54864" cy="749808"/>
          </a:xfrm>
          <a:prstGeom prst="rect">
            <a:avLst/>
          </a:prstGeom>
          <a:solidFill>
            <a:srgbClr val="38EF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167128" y="2843784"/>
            <a:ext cx="320040" cy="0"/>
          </a:xfrm>
          <a:prstGeom prst="line">
            <a:avLst/>
          </a:prstGeom>
          <a:ln w="19050">
            <a:solidFill>
              <a:srgbClr val="38EFA0"/>
            </a:solidFill>
            <a:tailEnd type="triangle" w="med" len="med"/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4270248" y="2843784"/>
            <a:ext cx="320040" cy="0"/>
          </a:xfrm>
          <a:prstGeom prst="line">
            <a:avLst/>
          </a:prstGeom>
          <a:ln w="19050">
            <a:solidFill>
              <a:srgbClr val="38EFA0"/>
            </a:solidFill>
            <a:tailEnd type="triangle" w="med" len="med"/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373368" y="2843784"/>
            <a:ext cx="320040" cy="0"/>
          </a:xfrm>
          <a:prstGeom prst="line">
            <a:avLst/>
          </a:prstGeom>
          <a:ln w="19050">
            <a:solidFill>
              <a:srgbClr val="38EFA0"/>
            </a:solidFill>
            <a:tailEnd type="triangl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548640" y="1810512"/>
            <a:ext cx="1463040" cy="274320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DM Sans"/>
              </a:rPr>
              <a:t>Greenfield (raro)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75588" y="2139696"/>
            <a:ext cx="0" cy="292608"/>
          </a:xfrm>
          <a:prstGeom prst="line">
            <a:avLst/>
          </a:prstGeom>
          <a:ln w="12700">
            <a:solidFill>
              <a:srgbClr val="AAAAAA"/>
            </a:solidFill>
            <a:prstDash val="dash"/>
            <a:tailEnd type="triangl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4663440" y="1755648"/>
            <a:ext cx="1645920" cy="292608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DM Sans"/>
              </a:rPr>
              <a:t>Optimización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1828" y="2066543"/>
            <a:ext cx="0" cy="365761"/>
          </a:xfrm>
          <a:prstGeom prst="line">
            <a:avLst/>
          </a:prstGeom>
          <a:ln w="31750">
            <a:solidFill>
              <a:srgbClr val="38EFA0"/>
            </a:solidFill>
            <a:tailEnd type="triangle" w="med" len="med"/>
          </a:ln>
          <a:effectLst/>
        </p:spPr>
      </p:cxnSp>
      <p:sp>
        <p:nvSpPr>
          <p:cNvPr id="21" name="Rounded Rectangle 20"/>
          <p:cNvSpPr/>
          <p:nvPr/>
        </p:nvSpPr>
        <p:spPr>
          <a:xfrm>
            <a:off x="2487168" y="3346704"/>
            <a:ext cx="3886200" cy="310896"/>
          </a:xfrm>
          <a:prstGeom prst="roundRect">
            <a:avLst>
              <a:gd name="adj" fmla="val 8000"/>
            </a:avLst>
          </a:prstGeom>
          <a:solidFill>
            <a:srgbClr val="38EFA0"/>
          </a:solidFill>
          <a:ln>
            <a:noFill/>
          </a:ln>
          <a:effectLst/>
        </p:spPr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A1A1A"/>
                </a:solidFill>
                <a:latin typeface="DM Sans"/>
              </a:rPr>
              <a:t>Sistema A · diagnostica → repara → valida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3408" y="3346704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 lIns="45720" rIns="45720" tIns="9144" bIns="9144"/>
          <a:lstStyle/>
          <a:p>
            <a:pPr algn="ctr"/>
            <a:r>
              <a:rPr sz="800" b="1">
                <a:solidFill>
                  <a:srgbClr val="1A1A1A"/>
                </a:solidFill>
                <a:latin typeface="DM Sans"/>
              </a:rPr>
              <a:t>RES · investigación externa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93408" y="3346704"/>
            <a:ext cx="54864" cy="310896"/>
          </a:xfrm>
          <a:prstGeom prst="rect">
            <a:avLst/>
          </a:prstGeom>
          <a:solidFill>
            <a:srgbClr val="38EF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93408" y="3712463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38EFA0"/>
          </a:solidFill>
          <a:ln>
            <a:noFill/>
          </a:ln>
          <a:effectLst/>
        </p:spPr>
        <p:txBody>
          <a:bodyPr rtlCol="0" anchor="ctr" wrap="square" lIns="45720" rIns="45720" tIns="9144" bIns="9144"/>
          <a:lstStyle/>
          <a:p>
            <a:pPr algn="ctr"/>
            <a:r>
              <a:rPr sz="850" b="1">
                <a:solidFill>
                  <a:srgbClr val="1A1A1A"/>
                </a:solidFill>
                <a:latin typeface="DM Sans"/>
              </a:rPr>
              <a:t>Sistema B · destila → KB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584948" y="3236976"/>
            <a:ext cx="0" cy="109728"/>
          </a:xfrm>
          <a:prstGeom prst="line">
            <a:avLst/>
          </a:prstGeom>
          <a:ln w="15240">
            <a:solidFill>
              <a:srgbClr val="38EFA0"/>
            </a:solidFill>
            <a:tailEnd type="triangle" w="med" len="med"/>
          </a:ln>
          <a:effectLst/>
        </p:spPr>
      </p:cxnSp>
      <p:cxnSp>
        <p:nvCxnSpPr>
          <p:cNvPr id="26" name="Connector 25"/>
          <p:cNvCxnSpPr/>
          <p:nvPr/>
        </p:nvCxnSpPr>
        <p:spPr>
          <a:xfrm flipH="1" flipV="1">
            <a:off x="6391656" y="3529584"/>
            <a:ext cx="301752" cy="338328"/>
          </a:xfrm>
          <a:prstGeom prst="line">
            <a:avLst/>
          </a:prstGeom>
          <a:ln w="19050">
            <a:solidFill>
              <a:srgbClr val="38EFA0"/>
            </a:solidFill>
            <a:tailEnd type="triangle" w="med" len="med"/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7584948" y="4023360"/>
            <a:ext cx="0" cy="585216"/>
          </a:xfrm>
          <a:prstGeom prst="line">
            <a:avLst/>
          </a:prstGeom>
          <a:ln w="19050">
            <a:solidFill>
              <a:srgbClr val="38EFA0"/>
            </a:solidFill>
            <a:prstDash val="dash"/>
          </a:ln>
          <a:effectLst/>
        </p:spPr>
      </p:cxnSp>
      <p:cxnSp>
        <p:nvCxnSpPr>
          <p:cNvPr id="28" name="Connector 27"/>
          <p:cNvCxnSpPr/>
          <p:nvPr/>
        </p:nvCxnSpPr>
        <p:spPr>
          <a:xfrm flipH="1">
            <a:off x="1275588" y="4608576"/>
            <a:ext cx="6309360" cy="0"/>
          </a:xfrm>
          <a:prstGeom prst="line">
            <a:avLst/>
          </a:prstGeom>
          <a:ln w="19050">
            <a:solidFill>
              <a:srgbClr val="38EFA0"/>
            </a:solidFill>
            <a:prstDash val="dash"/>
          </a:ln>
          <a:effectLst/>
        </p:spPr>
      </p:cxnSp>
      <p:cxnSp>
        <p:nvCxnSpPr>
          <p:cNvPr id="29" name="Connector 28"/>
          <p:cNvCxnSpPr/>
          <p:nvPr/>
        </p:nvCxnSpPr>
        <p:spPr>
          <a:xfrm flipV="1">
            <a:off x="1275588" y="3236976"/>
            <a:ext cx="0" cy="1371600"/>
          </a:xfrm>
          <a:prstGeom prst="line">
            <a:avLst/>
          </a:prstGeom>
          <a:ln w="19050">
            <a:solidFill>
              <a:srgbClr val="38EFA0"/>
            </a:solidFill>
            <a:prstDash val="dash"/>
            <a:tailEnd type="triangle" w="med" len="med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1828800" y="4315968"/>
            <a:ext cx="5394960" cy="256032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ctr"/>
            <a:r>
              <a:rPr sz="850" b="0">
                <a:solidFill>
                  <a:srgbClr val="666666"/>
                </a:solidFill>
                <a:latin typeface="DM Sans"/>
              </a:rPr>
              <a:t>El aprendizaje retroalimenta el método (y afina a Sistema 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